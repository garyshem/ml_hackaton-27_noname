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gmnGGK6Wi9cShty+h29ch/s9Hp4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7257CE-D492-4681-810F-181F9270D95F}">
  <a:tblStyle styleId="{2C7257CE-D492-4681-810F-181F9270D95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LB</c:v>
                </c:pt>
              </c:strCache>
            </c:strRef>
          </c:tx>
          <c:spPr>
            <a:ln w="4445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3343B"/>
                    </a:solidFill>
                    <a:latin typeface="Arial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Baseline</c:v>
                </c:pt>
                <c:pt idx="1">
                  <c:v>Log+GBT</c:v>
                </c:pt>
                <c:pt idx="2">
                  <c:v>Two-stream</c:v>
                </c:pt>
                <c:pt idx="3">
                  <c:v>SI-stack</c:v>
                </c:pt>
                <c:pt idx="4">
                  <c:v>SLSQP</c:v>
                </c:pt>
                <c:pt idx="5">
                  <c:v>Diversity</c:v>
                </c:pt>
                <c:pt idx="6">
                  <c:v>MI-blend</c:v>
                </c:pt>
                <c:pt idx="7">
                  <c:v>v2c</c:v>
                </c:pt>
                <c:pt idx="8">
                  <c:v>Adaptive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365.82</c:v>
                </c:pt>
                <c:pt idx="1">
                  <c:v>323.08999999999997</c:v>
                </c:pt>
                <c:pt idx="2">
                  <c:v>291.83999999999997</c:v>
                </c:pt>
                <c:pt idx="3">
                  <c:v>291.64</c:v>
                </c:pt>
                <c:pt idx="4">
                  <c:v>286.7</c:v>
                </c:pt>
                <c:pt idx="5">
                  <c:v>282.64</c:v>
                </c:pt>
                <c:pt idx="6">
                  <c:v>281.17</c:v>
                </c:pt>
                <c:pt idx="7">
                  <c:v>278.83</c:v>
                </c:pt>
                <c:pt idx="8">
                  <c:v>278.74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DEF-40C3-8B39-FB7950754AB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70"/>
          <c:min val="27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Public LB</c:v>
                </c:pt>
              </c:strCache>
            </c:strRef>
          </c:tx>
          <c:spPr>
            <a:ln w="508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9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3343B"/>
                    </a:solidFill>
                    <a:latin typeface="Arial"/>
                  </a:defRPr>
                </a:pPr>
                <a:endParaRPr lang="ru-RU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Baseline</c:v>
                </c:pt>
                <c:pt idx="1">
                  <c:v>Log+GBT</c:v>
                </c:pt>
                <c:pt idx="2">
                  <c:v>SLSQP</c:v>
                </c:pt>
                <c:pt idx="3">
                  <c:v>v2c (плато)</c:v>
                </c:pt>
                <c:pt idx="4">
                  <c:v>Простая база</c:v>
                </c:pt>
                <c:pt idx="5">
                  <c:v>Multiseed</c:v>
                </c:pt>
                <c:pt idx="6">
                  <c:v>pct 6%</c:v>
                </c:pt>
                <c:pt idx="7">
                  <c:v>Финал 3.5%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365.82</c:v>
                </c:pt>
                <c:pt idx="1">
                  <c:v>323.08999999999997</c:v>
                </c:pt>
                <c:pt idx="2">
                  <c:v>286.7</c:v>
                </c:pt>
                <c:pt idx="3">
                  <c:v>278.74</c:v>
                </c:pt>
                <c:pt idx="4">
                  <c:v>271.7</c:v>
                </c:pt>
                <c:pt idx="5">
                  <c:v>270</c:v>
                </c:pt>
                <c:pt idx="6">
                  <c:v>268.89999999999998</c:v>
                </c:pt>
                <c:pt idx="7">
                  <c:v>268.76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DE1-4781-95AB-32D2C44D23AC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70"/>
          <c:min val="2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e5bed1263c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g3e5bed1263c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e5bed1263c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5bed1263c_0_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" name="Google Shape;53;g3e5bed1263c_0_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3e5bed1263c_0_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" name="Google Shape;21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5" name="Google Shape;305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5.png"/><Relationship Id="rId7" Type="http://schemas.openxmlformats.org/officeDocument/2006/relationships/image" Target="../media/image17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chart" Target="../charts/chart1.xml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6.png"/><Relationship Id="rId7" Type="http://schemas.openxmlformats.org/officeDocument/2006/relationships/image" Target="../media/image9.png"/><Relationship Id="rId8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2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8503920" y="-1463040"/>
            <a:ext cx="5486400" cy="5486400"/>
          </a:xfrm>
          <a:prstGeom prst="ellipse">
            <a:avLst/>
          </a:prstGeom>
          <a:noFill/>
          <a:ln cap="flat" cmpd="sng" w="15225">
            <a:solidFill>
              <a:srgbClr val="028090">
                <a:alpha val="4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9509760" y="-457200"/>
            <a:ext cx="3474720" cy="3474720"/>
          </a:xfrm>
          <a:prstGeom prst="ellipse">
            <a:avLst/>
          </a:prstGeom>
          <a:noFill/>
          <a:ln cap="flat" cmpd="sng" w="15225">
            <a:solidFill>
              <a:srgbClr val="00A896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10058400" y="91440"/>
            <a:ext cx="2377440" cy="2377440"/>
          </a:xfrm>
          <a:prstGeom prst="ellipse">
            <a:avLst/>
          </a:prstGeom>
          <a:solidFill>
            <a:srgbClr val="028090">
              <a:alpha val="2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" name="Google Shape;1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744200" y="82296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"/>
          <p:cNvSpPr/>
          <p:nvPr/>
        </p:nvSpPr>
        <p:spPr>
          <a:xfrm>
            <a:off x="731520" y="17373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02C39A"/>
                </a:solidFill>
                <a:latin typeface="Trebuchet MS"/>
                <a:ea typeface="Trebuchet MS"/>
                <a:cs typeface="Trebuchet MS"/>
                <a:sym typeface="Trebuchet MS"/>
              </a:rPr>
              <a:t>KAGGLE HACKATHON · DRUG-DISCOVERY ML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731520" y="214884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lang="en-US" sz="5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ChemAI: Predict the Cure</a:t>
            </a:r>
            <a:endParaRPr sz="5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749808" y="315468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9E5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Предсказание биологической активности молекул против вируса гриппа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9E5"/>
              </a:buClr>
              <a:buSzPts val="1700"/>
              <a:buFont typeface="Calibri"/>
              <a:buNone/>
            </a:pPr>
            <a:r>
              <a:rPr lang="en-US" sz="170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по RDKit-дескрипторам · IC50 · CC50 · SI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731520" y="4434840"/>
            <a:ext cx="3200400" cy="1554480"/>
          </a:xfrm>
          <a:prstGeom prst="rect">
            <a:avLst/>
          </a:prstGeom>
          <a:solidFill>
            <a:srgbClr val="10303B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731520" y="4434840"/>
            <a:ext cx="82296" cy="1554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68680" y="4572000"/>
            <a:ext cx="2926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rebuchet MS"/>
              <a:buNone/>
            </a:pPr>
            <a:r>
              <a:rPr b="1" lang="en-US" sz="5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268.76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886968" y="544068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ФИНАЛЬНЫЙ RMSE НА KAGGLE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114800" y="4434840"/>
            <a:ext cx="3200400" cy="1554480"/>
          </a:xfrm>
          <a:prstGeom prst="rect">
            <a:avLst/>
          </a:prstGeom>
          <a:solidFill>
            <a:srgbClr val="10303B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114800" y="4434840"/>
            <a:ext cx="82296" cy="1554480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4251960" y="4572000"/>
            <a:ext cx="29260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Trebuchet MS"/>
              <a:buNone/>
            </a:pPr>
            <a:r>
              <a:rPr b="1" lang="en-US" sz="5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−97.1</a:t>
            </a:r>
            <a:endParaRPr sz="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4270248" y="553212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ПУНКТА ОТ BASELINE(365.82)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7498080" y="4434840"/>
            <a:ext cx="3200400" cy="1554480"/>
          </a:xfrm>
          <a:prstGeom prst="rect">
            <a:avLst/>
          </a:prstGeom>
          <a:solidFill>
            <a:srgbClr val="10303B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7498080" y="4434840"/>
            <a:ext cx="82296" cy="1554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7635240" y="4617720"/>
            <a:ext cx="2926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Trebuchet MS"/>
              <a:buNone/>
            </a:pPr>
            <a:r>
              <a:rPr b="1" lang="en-US" sz="40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750 / 250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7653528" y="544068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СООТНОШЕНИЕ ОБУЧАЮЩЕЙ И ТЕСТОВОЙ </a:t>
            </a:r>
            <a:r>
              <a:rPr b="1" lang="en-US" sz="11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ВЫБОРКИ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7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e5bed1263c_0_0"/>
          <p:cNvSpPr/>
          <p:nvPr/>
        </p:nvSpPr>
        <p:spPr>
          <a:xfrm>
            <a:off x="482770" y="7068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400"/>
              <a:buFont typeface="Trebuchet MS"/>
              <a:buNone/>
            </a:pPr>
            <a:r>
              <a:rPr b="1" lang="en-US">
                <a:solidFill>
                  <a:srgbClr val="02C39A"/>
                </a:solidFill>
                <a:latin typeface="Trebuchet MS"/>
                <a:ea typeface="Trebuchet MS"/>
                <a:cs typeface="Trebuchet MS"/>
                <a:sym typeface="Trebuchet MS"/>
              </a:rPr>
              <a:t>КОМАНДА 27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e5bed1263c_0_0"/>
          <p:cNvSpPr/>
          <p:nvPr/>
        </p:nvSpPr>
        <p:spPr>
          <a:xfrm>
            <a:off x="300900" y="1072549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Trebuchet MS"/>
              <a:buNone/>
            </a:pPr>
            <a:r>
              <a:rPr b="1" lang="en-US" sz="5200">
                <a:latin typeface="Trebuchet MS"/>
                <a:ea typeface="Trebuchet MS"/>
                <a:cs typeface="Trebuchet MS"/>
                <a:sym typeface="Trebuchet MS"/>
              </a:rPr>
              <a:t>Состав команды № 27</a:t>
            </a:r>
            <a:endParaRPr sz="5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e5bed1263c_0_0"/>
          <p:cNvSpPr txBox="1"/>
          <p:nvPr/>
        </p:nvSpPr>
        <p:spPr>
          <a:xfrm>
            <a:off x="780450" y="2474350"/>
            <a:ext cx="95565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Тимлид:</a:t>
            </a:r>
            <a:endParaRPr sz="20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4F8F7"/>
                </a:solidFill>
              </a:rPr>
              <a:t> - </a:t>
            </a:r>
            <a:r>
              <a:rPr b="1" i="1" lang="en-US" sz="2400">
                <a:solidFill>
                  <a:srgbClr val="028090"/>
                </a:solidFill>
              </a:rPr>
              <a:t>Сединкин Михаил Алексеевич</a:t>
            </a:r>
            <a:endParaRPr b="1" i="1" sz="2400">
              <a:solidFill>
                <a:srgbClr val="0280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2400">
              <a:solidFill>
                <a:srgbClr val="0280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Команда: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4F8F7"/>
                </a:solidFill>
              </a:rPr>
              <a:t>	</a:t>
            </a:r>
            <a:r>
              <a:rPr lang="en-US" sz="2000">
                <a:solidFill>
                  <a:schemeClr val="dk1"/>
                </a:solidFill>
              </a:rPr>
              <a:t>- </a:t>
            </a:r>
            <a:r>
              <a:rPr b="1" i="1" lang="en-US" sz="2400">
                <a:solidFill>
                  <a:srgbClr val="028090"/>
                </a:solidFill>
              </a:rPr>
              <a:t>Вахненко Егор Васильевич</a:t>
            </a:r>
            <a:endParaRPr b="1" i="1" sz="2400">
              <a:solidFill>
                <a:srgbClr val="0280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4F8F7"/>
                </a:solidFill>
              </a:rPr>
              <a:t>	</a:t>
            </a:r>
            <a:r>
              <a:rPr lang="en-US" sz="2000">
                <a:solidFill>
                  <a:schemeClr val="dk1"/>
                </a:solidFill>
              </a:rPr>
              <a:t>- </a:t>
            </a:r>
            <a:r>
              <a:rPr b="1" i="1" lang="en-US" sz="2400">
                <a:solidFill>
                  <a:srgbClr val="028090"/>
                </a:solidFill>
              </a:rPr>
              <a:t>Карбовский Денис Константинович</a:t>
            </a:r>
            <a:endParaRPr b="1" i="1" sz="2400">
              <a:solidFill>
                <a:srgbClr val="0280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accent1"/>
                </a:solidFill>
              </a:rPr>
              <a:t>	</a:t>
            </a:r>
            <a:r>
              <a:rPr lang="en-US" sz="2000">
                <a:solidFill>
                  <a:schemeClr val="dk1"/>
                </a:solidFill>
              </a:rPr>
              <a:t>-</a:t>
            </a:r>
            <a:r>
              <a:rPr b="1" i="1" lang="en-US" sz="2400">
                <a:solidFill>
                  <a:schemeClr val="accent1"/>
                </a:solidFill>
              </a:rPr>
              <a:t> </a:t>
            </a:r>
            <a:r>
              <a:rPr b="1" i="1" lang="en-US" sz="2400">
                <a:solidFill>
                  <a:srgbClr val="028090"/>
                </a:solidFill>
              </a:rPr>
              <a:t>Шемякин Игорь Игоревич</a:t>
            </a:r>
            <a:endParaRPr b="1" i="1" sz="2400">
              <a:solidFill>
                <a:srgbClr val="0280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400">
                <a:solidFill>
                  <a:schemeClr val="accent1"/>
                </a:solidFill>
              </a:rPr>
              <a:t>	</a:t>
            </a:r>
            <a:r>
              <a:rPr lang="en-US" sz="2000">
                <a:solidFill>
                  <a:schemeClr val="dk1"/>
                </a:solidFill>
              </a:rPr>
              <a:t>-</a:t>
            </a:r>
            <a:r>
              <a:rPr b="1" i="1" lang="en-US" sz="2400">
                <a:solidFill>
                  <a:schemeClr val="accent1"/>
                </a:solidFill>
              </a:rPr>
              <a:t> </a:t>
            </a:r>
            <a:r>
              <a:rPr b="1" i="1" lang="en-US" sz="2400">
                <a:solidFill>
                  <a:srgbClr val="028090"/>
                </a:solidFill>
              </a:rPr>
              <a:t>Носов Максим Александрович</a:t>
            </a:r>
            <a:endParaRPr b="1" i="1" sz="2400">
              <a:solidFill>
                <a:srgbClr val="02809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F4F8F7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7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4" name="Google Shape;4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3"/>
          <p:cNvSpPr/>
          <p:nvPr/>
        </p:nvSpPr>
        <p:spPr>
          <a:xfrm>
            <a:off x="1115568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РАЗВЕДОЧНЫЙ АНАЛИЗ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1109072" y="801450"/>
            <a:ext cx="10543200" cy="7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2807"/>
              <a:buFont typeface="Trebuchet MS"/>
              <a:buNone/>
            </a:pPr>
            <a:r>
              <a:rPr b="1" lang="en-US" sz="2807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EDA: основные графики</a:t>
            </a:r>
            <a:endParaRPr sz="280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" name="Google Shape;47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150" y="1506900"/>
            <a:ext cx="3763528" cy="4331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27298" y="1506899"/>
            <a:ext cx="4096797" cy="4331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63396" y="1665055"/>
            <a:ext cx="3763529" cy="4249164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/>
          <p:nvPr/>
        </p:nvSpPr>
        <p:spPr>
          <a:xfrm>
            <a:off x="4300897" y="6000428"/>
            <a:ext cx="2439900" cy="71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Распределени</a:t>
            </a:r>
            <a:r>
              <a:rPr b="1" lang="en-US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я</a:t>
            </a:r>
            <a:r>
              <a:rPr b="1" lang="en-US" sz="14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 таргетов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7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g3e5bed1263c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g3e5bed1263c_0_26"/>
          <p:cNvSpPr/>
          <p:nvPr/>
        </p:nvSpPr>
        <p:spPr>
          <a:xfrm>
            <a:off x="1115568" y="457200"/>
            <a:ext cx="9144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РАЗВЕДОЧНЫЙ АНАЛИЗ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g3e5bed1263c_0_26"/>
          <p:cNvSpPr/>
          <p:nvPr/>
        </p:nvSpPr>
        <p:spPr>
          <a:xfrm>
            <a:off x="1115568" y="713232"/>
            <a:ext cx="10515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EDA: три ключевых наблюдения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g3e5bed1263c_0_26"/>
          <p:cNvSpPr/>
          <p:nvPr/>
        </p:nvSpPr>
        <p:spPr>
          <a:xfrm>
            <a:off x="548640" y="1600200"/>
            <a:ext cx="3612000" cy="233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e5bed1263c_0_26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rgbClr val="0B2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1" name="Google Shape;61;g3e5bed1263c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19659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g3e5bed1263c_0_26"/>
          <p:cNvSpPr/>
          <p:nvPr/>
        </p:nvSpPr>
        <p:spPr>
          <a:xfrm>
            <a:off x="822960" y="2606040"/>
            <a:ext cx="310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Сильная правосторонняя скошенность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3e5bed1263c_0_26"/>
          <p:cNvSpPr/>
          <p:nvPr/>
        </p:nvSpPr>
        <p:spPr>
          <a:xfrm>
            <a:off x="822960" y="3200400"/>
            <a:ext cx="310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Особенно у SI (max/median = 3905). RMSE тянет модель к среднему. Test должен быть центрированнее train — иначе LB не сходится с OOF.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e5bed1263c_0_26"/>
          <p:cNvSpPr/>
          <p:nvPr/>
        </p:nvSpPr>
        <p:spPr>
          <a:xfrm>
            <a:off x="4343400" y="1600200"/>
            <a:ext cx="3612000" cy="233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g3e5bed1263c_0_26"/>
          <p:cNvSpPr/>
          <p:nvPr/>
        </p:nvSpPr>
        <p:spPr>
          <a:xfrm>
            <a:off x="4617720" y="1828800"/>
            <a:ext cx="685800" cy="685800"/>
          </a:xfrm>
          <a:prstGeom prst="ellipse">
            <a:avLst/>
          </a:prstGeom>
          <a:solidFill>
            <a:srgbClr val="0B2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6" name="Google Shape;66;g3e5bed1263c_0_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9659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g3e5bed1263c_0_26"/>
          <p:cNvSpPr/>
          <p:nvPr/>
        </p:nvSpPr>
        <p:spPr>
          <a:xfrm>
            <a:off x="4617720" y="2606040"/>
            <a:ext cx="310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SI ≡ CC50 / IC50 (точно)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e5bed1263c_0_26"/>
          <p:cNvSpPr/>
          <p:nvPr/>
        </p:nvSpPr>
        <p:spPr>
          <a:xfrm>
            <a:off x="4617720" y="3200400"/>
            <a:ext cx="310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В train тождество выполняется до 2e-11. Это физика измерений. Используем как фичу в стекинге и для проверки physical impossibility.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e5bed1263c_0_26"/>
          <p:cNvSpPr/>
          <p:nvPr/>
        </p:nvSpPr>
        <p:spPr>
          <a:xfrm>
            <a:off x="8138160" y="1600200"/>
            <a:ext cx="3612000" cy="233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e5bed1263c_0_26"/>
          <p:cNvSpPr/>
          <p:nvPr/>
        </p:nvSpPr>
        <p:spPr>
          <a:xfrm>
            <a:off x="8412480" y="1828800"/>
            <a:ext cx="685800" cy="685800"/>
          </a:xfrm>
          <a:prstGeom prst="ellipse">
            <a:avLst/>
          </a:prstGeom>
          <a:solidFill>
            <a:srgbClr val="0B2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1" name="Google Shape;71;g3e5bed1263c_0_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9640" y="196596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3e5bed1263c_0_26"/>
          <p:cNvSpPr/>
          <p:nvPr/>
        </p:nvSpPr>
        <p:spPr>
          <a:xfrm>
            <a:off x="8412480" y="2606040"/>
            <a:ext cx="31089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Дубликаты строк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e5bed1263c_0_26"/>
          <p:cNvSpPr/>
          <p:nvPr/>
        </p:nvSpPr>
        <p:spPr>
          <a:xfrm>
            <a:off x="8412480" y="3200400"/>
            <a:ext cx="3108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121 train row дублирует другие в descriptor space; ≈14 test rows имеют exact match в train. Источник исправления багов и аугментации.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g3e5bed1263c_0_26"/>
          <p:cNvSpPr/>
          <p:nvPr/>
        </p:nvSpPr>
        <p:spPr>
          <a:xfrm>
            <a:off x="548640" y="4160520"/>
            <a:ext cx="11064300" cy="2148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3e5bed1263c_0_26"/>
          <p:cNvSpPr/>
          <p:nvPr/>
        </p:nvSpPr>
        <p:spPr>
          <a:xfrm>
            <a:off x="777240" y="429768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Распределение таргетов (train)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76" name="Google Shape;76;g3e5bed1263c_0_26"/>
          <p:cNvGraphicFramePr/>
          <p:nvPr/>
        </p:nvGraphicFramePr>
        <p:xfrm>
          <a:off x="777240" y="4709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{2C7257CE-D492-4681-810F-181F9270D95F}</a:tableStyleId>
              </a:tblPr>
              <a:tblGrid>
                <a:gridCol w="1920250"/>
                <a:gridCol w="1737350"/>
                <a:gridCol w="1737350"/>
                <a:gridCol w="1737350"/>
                <a:gridCol w="1737350"/>
                <a:gridCol w="173735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target</a:t>
                      </a:r>
                      <a:endParaRPr sz="13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min</a:t>
                      </a:r>
                      <a:endParaRPr sz="13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p50</a:t>
                      </a:r>
                      <a:endParaRPr sz="13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mean</a:t>
                      </a:r>
                      <a:endParaRPr sz="13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p99</a:t>
                      </a:r>
                      <a:endParaRPr sz="13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300"/>
                        <a:buFont typeface="Trebuchet MS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  <a:latin typeface="Trebuchet MS"/>
                          <a:ea typeface="Trebuchet MS"/>
                          <a:cs typeface="Trebuchet MS"/>
                          <a:sym typeface="Trebuchet MS"/>
                        </a:rPr>
                        <a:t>max</a:t>
                      </a:r>
                      <a:endParaRPr sz="1300" u="none" cap="none" strike="noStrike">
                        <a:latin typeface="Trebuchet MS"/>
                        <a:ea typeface="Trebuchet MS"/>
                        <a:cs typeface="Trebuchet MS"/>
                        <a:sym typeface="Trebuchet MS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28090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IC50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44.1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204.5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1334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4095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5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CC50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0.7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376.6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577.4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3162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4539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0.011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4.0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89.2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1281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343B"/>
                        </a:buClr>
                        <a:buSzPts val="13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334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15620</a:t>
                      </a:r>
                      <a:endParaRPr sz="13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1EAE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6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7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2" name="Google Shape;8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1115568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ИНСТРУМЕНТАРИЙ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115568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Модели и архитектура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48640" y="1600200"/>
            <a:ext cx="36118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48640" y="1600200"/>
            <a:ext cx="3611880" cy="822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7" name="Google Shape;8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1892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4"/>
          <p:cNvSpPr/>
          <p:nvPr/>
        </p:nvSpPr>
        <p:spPr>
          <a:xfrm>
            <a:off x="822960" y="246888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База — градиентный бустинг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822960" y="292608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LightGBM · XGBoost · CatBoost. Обучение и на log1p(target), и на raw-шкале. Multi-trim блендинг весов через SLSQP.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343400" y="1600200"/>
            <a:ext cx="36118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343400" y="1600200"/>
            <a:ext cx="3611880" cy="8229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7720" y="1892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4"/>
          <p:cNvSpPr/>
          <p:nvPr/>
        </p:nvSpPr>
        <p:spPr>
          <a:xfrm>
            <a:off x="4617720" y="246888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Diversity pack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617720" y="292608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ExtraTrees · Ridge · HuberRegressor · GaussianProcess — другой inductive bias для пробоя потолка GBT.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8138160" y="1600200"/>
            <a:ext cx="36118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8138160" y="1600200"/>
            <a:ext cx="3611880" cy="8229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12480" y="189280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8412480" y="246888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Stacking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8412480" y="292608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IC50↔CC50 обмениваются OOF; SI получает OOF IC50 + CC50 + log(CC50/IC50).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48640" y="3840480"/>
            <a:ext cx="36118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48640" y="3840480"/>
            <a:ext cx="3611880" cy="822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2" name="Google Shape;102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" y="41330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"/>
          <p:cNvSpPr/>
          <p:nvPr/>
        </p:nvSpPr>
        <p:spPr>
          <a:xfrm>
            <a:off x="822960" y="47091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Pseudo-labeling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22960" y="516636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Iterative: top-confident test rows как доп. данные. Расширенный teacher pool → точнее метки.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4343400" y="3840480"/>
            <a:ext cx="36118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343400" y="3840480"/>
            <a:ext cx="3611880" cy="8229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7" name="Google Shape;107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7720" y="41330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4"/>
          <p:cNvSpPr/>
          <p:nvPr/>
        </p:nvSpPr>
        <p:spPr>
          <a:xfrm>
            <a:off x="4617720" y="47091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v2c SI stack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4617720" y="516636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Отдельный LightGBM поверх base OOF + 192 дескриптора. 4 варианта гиперпараметров для блендинга.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8138160" y="3840480"/>
            <a:ext cx="3611880" cy="2057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8138160" y="3840480"/>
            <a:ext cx="3611880" cy="8229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412480" y="41330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/>
          <p:nvPr/>
        </p:nvSpPr>
        <p:spPr>
          <a:xfrm>
            <a:off x="8412480" y="4709160"/>
            <a:ext cx="3108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Adaptive blending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412480" y="516636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Per-row: std предсказаний teachers → самые неуверенные строки получают min-of-teachers.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7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/>
          <p:nvPr/>
        </p:nvSpPr>
        <p:spPr>
          <a:xfrm>
            <a:off x="1115568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ФАЗА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1115568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Большой ансамбль: 365 → 278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5"/>
          <p:cNvGraphicFramePr/>
          <p:nvPr/>
        </p:nvGraphicFramePr>
        <p:xfrm>
          <a:off x="548640" y="1645920"/>
          <a:ext cx="6949440" cy="448056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124" name="Google Shape;124;p5"/>
          <p:cNvSpPr/>
          <p:nvPr/>
        </p:nvSpPr>
        <p:spPr>
          <a:xfrm>
            <a:off x="7772400" y="1645920"/>
            <a:ext cx="3840480" cy="4480560"/>
          </a:xfrm>
          <a:prstGeom prst="rect">
            <a:avLst/>
          </a:prstGeom>
          <a:solidFill>
            <a:srgbClr val="0B2027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8001000" y="182880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Что зашло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23500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/>
          <p:nvPr/>
        </p:nvSpPr>
        <p:spPr>
          <a:xfrm>
            <a:off x="8366760" y="2286000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Log-transform  </a:t>
            </a:r>
            <a:r>
              <a:rPr lang="en-US" sz="110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снимает скос распределения (−42.7)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8" name="Google Shape;12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309981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5"/>
          <p:cNvSpPr/>
          <p:nvPr/>
        </p:nvSpPr>
        <p:spPr>
          <a:xfrm>
            <a:off x="8366760" y="3035808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Two-stream log+raw  </a:t>
            </a:r>
            <a:r>
              <a:rPr lang="en-US" sz="110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разные части распределения (−31.2)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0" name="Google Shape;130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38496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5"/>
          <p:cNvSpPr/>
          <p:nvPr/>
        </p:nvSpPr>
        <p:spPr>
          <a:xfrm>
            <a:off x="8366760" y="3785616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Multi-trim SLSQP  </a:t>
            </a:r>
            <a:r>
              <a:rPr lang="en-US" sz="110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устойчивее к test/train mismatch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2" name="Google Shape;13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459943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5"/>
          <p:cNvSpPr/>
          <p:nvPr/>
        </p:nvSpPr>
        <p:spPr>
          <a:xfrm>
            <a:off x="8366760" y="4535424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Diversity pack  </a:t>
            </a:r>
            <a:r>
              <a:rPr lang="en-US" sz="110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категориально разные модели — новый сигнал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01000" y="53492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8366760" y="5285232"/>
            <a:ext cx="3108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v2c SI stack  </a:t>
            </a:r>
            <a:r>
              <a:rPr lang="en-US" sz="110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нелинейный стэк поверх base OOF (−2.08)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7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1" name="Google Shape;14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6"/>
          <p:cNvSpPr/>
          <p:nvPr/>
        </p:nvSpPr>
        <p:spPr>
          <a:xfrm>
            <a:off x="1115568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НЕГАТИВНЫЕ РЕЗУЛЬТАТЫ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1115568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Что не зашло — и какие уроки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548640" y="1600200"/>
            <a:ext cx="5669280" cy="4663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6"/>
          <p:cNvSpPr/>
          <p:nvPr/>
        </p:nvSpPr>
        <p:spPr>
          <a:xfrm>
            <a:off x="777240" y="178308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500"/>
              <a:buFont typeface="Trebuchet MS"/>
              <a:buNone/>
            </a:pPr>
            <a:r>
              <a:rPr b="1" lang="en-US" sz="15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~40+ экспериментов с LB-валидацией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6" name="Google Shape;14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2768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6"/>
          <p:cNvSpPr/>
          <p:nvPr/>
        </p:nvSpPr>
        <p:spPr>
          <a:xfrm>
            <a:off x="1097280" y="22402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343B"/>
                </a:solidFill>
                <a:latin typeface="Calibri"/>
                <a:ea typeface="Calibri"/>
                <a:cs typeface="Calibri"/>
                <a:sym typeface="Calibri"/>
              </a:rPr>
              <a:t>L1/MAE loss, Optuna-tuning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4754880" y="22402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43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26430"/>
                </a:solidFill>
                <a:latin typeface="Trebuchet MS"/>
                <a:ea typeface="Trebuchet MS"/>
                <a:cs typeface="Trebuchet MS"/>
                <a:sym typeface="Trebuchet MS"/>
              </a:rPr>
              <a:t>+0.8…+1.1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27797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6"/>
          <p:cNvSpPr/>
          <p:nvPr/>
        </p:nvSpPr>
        <p:spPr>
          <a:xfrm>
            <a:off x="1097280" y="27432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343B"/>
                </a:solidFill>
                <a:latin typeface="Calibri"/>
                <a:ea typeface="Calibri"/>
                <a:cs typeface="Calibri"/>
                <a:sym typeface="Calibri"/>
              </a:rPr>
              <a:t>Linear calibration a·pred+b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4754880" y="27432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43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26430"/>
                </a:solidFill>
                <a:latin typeface="Trebuchet MS"/>
                <a:ea typeface="Trebuchet MS"/>
                <a:cs typeface="Trebuchet MS"/>
                <a:sym typeface="Trebuchet MS"/>
              </a:rPr>
              <a:t>+0.1…+0.5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2826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1097280" y="32461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343B"/>
                </a:solidFill>
                <a:latin typeface="Calibri"/>
                <a:ea typeface="Calibri"/>
                <a:cs typeface="Calibri"/>
                <a:sym typeface="Calibri"/>
              </a:rPr>
              <a:t>Stacking поверх production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4754880" y="32461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43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26430"/>
                </a:solidFill>
                <a:latin typeface="Trebuchet MS"/>
                <a:ea typeface="Trebuchet MS"/>
                <a:cs typeface="Trebuchet MS"/>
                <a:sym typeface="Trebuchet MS"/>
              </a:rPr>
              <a:t>+2.6…+2.8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5" name="Google Shape;15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378561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6"/>
          <p:cNvSpPr/>
          <p:nvPr/>
        </p:nvSpPr>
        <p:spPr>
          <a:xfrm>
            <a:off x="1097280" y="3749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343B"/>
                </a:solidFill>
                <a:latin typeface="Calibri"/>
                <a:ea typeface="Calibri"/>
                <a:cs typeface="Calibri"/>
                <a:sym typeface="Calibri"/>
              </a:rPr>
              <a:t>Outlier downweighting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4754880" y="374904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43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26430"/>
                </a:solidFill>
                <a:latin typeface="Trebuchet MS"/>
                <a:ea typeface="Trebuchet MS"/>
                <a:cs typeface="Trebuchet MS"/>
                <a:sym typeface="Trebuchet MS"/>
              </a:rPr>
              <a:t>+0.35…+0.95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8" name="Google Shape;15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428853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6"/>
          <p:cNvSpPr/>
          <p:nvPr/>
        </p:nvSpPr>
        <p:spPr>
          <a:xfrm>
            <a:off x="1097280" y="42519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343B"/>
                </a:solidFill>
                <a:latin typeface="Calibri"/>
                <a:ea typeface="Calibri"/>
                <a:cs typeface="Calibri"/>
                <a:sym typeface="Calibri"/>
              </a:rPr>
              <a:t>Mixup / Residual modelling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754880" y="425196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43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26430"/>
                </a:solidFill>
                <a:latin typeface="Trebuchet MS"/>
                <a:ea typeface="Trebuchet MS"/>
                <a:cs typeface="Trebuchet MS"/>
                <a:sym typeface="Trebuchet MS"/>
              </a:rPr>
              <a:t>OOF хуже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479145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1097280" y="47548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343B"/>
                </a:solidFill>
                <a:latin typeface="Calibri"/>
                <a:ea typeface="Calibri"/>
                <a:cs typeface="Calibri"/>
                <a:sym typeface="Calibri"/>
              </a:rPr>
              <a:t>Quantile mapping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4754880" y="47548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43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26430"/>
                </a:solidFill>
                <a:latin typeface="Trebuchet MS"/>
                <a:ea typeface="Trebuchet MS"/>
                <a:cs typeface="Trebuchet MS"/>
                <a:sym typeface="Trebuchet MS"/>
              </a:rPr>
              <a:t>OOF +30…+240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4" name="Google Shape;1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529437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6"/>
          <p:cNvSpPr/>
          <p:nvPr/>
        </p:nvSpPr>
        <p:spPr>
          <a:xfrm>
            <a:off x="1097280" y="5257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343B"/>
                </a:solidFill>
                <a:latin typeface="Calibri"/>
                <a:ea typeface="Calibri"/>
                <a:cs typeface="Calibri"/>
                <a:sym typeface="Calibri"/>
              </a:rPr>
              <a:t>Bigger teacher pool (5-8)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754880" y="52578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43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26430"/>
                </a:solidFill>
                <a:latin typeface="Trebuchet MS"/>
                <a:ea typeface="Trebuchet MS"/>
                <a:cs typeface="Trebuchet MS"/>
                <a:sym typeface="Trebuchet MS"/>
              </a:rPr>
              <a:t>+0.05…+0.15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7" name="Google Shape;16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7240" y="5797296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1097280" y="5760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13343B"/>
                </a:solidFill>
                <a:latin typeface="Calibri"/>
                <a:ea typeface="Calibri"/>
                <a:cs typeface="Calibri"/>
                <a:sym typeface="Calibri"/>
              </a:rPr>
              <a:t>External ChEMBL lookup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4754880" y="57607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2643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F26430"/>
                </a:solidFill>
                <a:latin typeface="Trebuchet MS"/>
                <a:ea typeface="Trebuchet MS"/>
                <a:cs typeface="Trebuchet MS"/>
                <a:sym typeface="Trebuchet MS"/>
              </a:rPr>
              <a:t>+8…+14 LB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492240" y="1600200"/>
            <a:ext cx="5120640" cy="1078992"/>
          </a:xfrm>
          <a:prstGeom prst="rect">
            <a:avLst/>
          </a:prstGeom>
          <a:solidFill>
            <a:srgbClr val="0B2027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492240" y="1600200"/>
            <a:ext cx="73152" cy="10789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693408" y="1709928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«Model-tweak» регрессирует, «Information+» помогает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6693408" y="210312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E9E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Подкрутка параметров улучшает OOF, но роняет LB. Новые фичи, метки, классы моделей — наоборот.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492240" y="2788920"/>
            <a:ext cx="512064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492240" y="2788920"/>
            <a:ext cx="73152" cy="10789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6693408" y="2898648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«Subset+» paradox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693408" y="329184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Похожие кандидаты (все GBT): меньше = лучше. Категориально разные: diversity полезна — правило переворачивается.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6492240" y="3977640"/>
            <a:ext cx="512064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492240" y="3977640"/>
            <a:ext cx="73152" cy="10789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693408" y="4087368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Test distribution ≠ train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6693408" y="448056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trim_95 OOF — лучший proxy для LB. Но методы, меняющие train-распределение, делают OOF self-fulfilling.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6492240" y="5166360"/>
            <a:ext cx="5120640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492240" y="5166360"/>
            <a:ext cx="73152" cy="107899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6693408" y="5276088"/>
            <a:ext cx="4754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Per-row adaptive &gt; blanket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693408" y="5669280"/>
            <a:ext cx="47548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Все сплошные трансформации регрессировали. Точечная замена только uncertain строк — работает.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2027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1" name="Google Shape;19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7"/>
          <p:cNvSpPr/>
          <p:nvPr/>
        </p:nvSpPr>
        <p:spPr>
          <a:xfrm>
            <a:off x="1115568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2C39A"/>
                </a:solidFill>
                <a:latin typeface="Trebuchet MS"/>
                <a:ea typeface="Trebuchet MS"/>
                <a:cs typeface="Trebuchet MS"/>
                <a:sym typeface="Trebuchet MS"/>
              </a:rPr>
              <a:t>ФАЗА 2 · ПЕРЕЛОМ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1115568" y="713232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Упрощение базы: 278 → ~272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548640" y="1737360"/>
            <a:ext cx="5394960" cy="4297680"/>
          </a:xfrm>
          <a:prstGeom prst="rect">
            <a:avLst/>
          </a:prstGeom>
          <a:solidFill>
            <a:srgbClr val="10303B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822960" y="192024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02C39A"/>
                </a:solidFill>
                <a:latin typeface="Trebuchet MS"/>
                <a:ea typeface="Trebuchet MS"/>
                <a:cs typeface="Trebuchet MS"/>
                <a:sym typeface="Trebuchet MS"/>
              </a:rPr>
              <a:t>Инсайт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22960" y="2286000"/>
            <a:ext cx="4846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9E5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П</a:t>
            </a:r>
            <a:r>
              <a:rPr lang="en-US" sz="145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ростые модели. Сложный ансамбль уперся в плато 282.6 (1500+ fits). Переписали базу с нуля.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68680" y="3291840"/>
            <a:ext cx="48463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Только CatBoost + LightGBM, blend 0.75 / 0.25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Без многоуровневого SLSQP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Outlier removal: SI &lt; 2000 → 746 rows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Drop constant + corr &gt; 0.95 → 159 фич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spcBef>
                <a:spcPts val="80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Char char="•"/>
            </a:pPr>
            <a:r>
              <a:rPr lang="en-US" sz="13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10-fold KFold, log1p только для SI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309360" y="1737360"/>
            <a:ext cx="5303520" cy="42976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583680" y="192024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До → После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6583680" y="2423160"/>
            <a:ext cx="4754880" cy="1417320"/>
          </a:xfrm>
          <a:prstGeom prst="rect">
            <a:avLst/>
          </a:prstGeom>
          <a:solidFill>
            <a:srgbClr val="F0F6F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6766560" y="256032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6430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F26430"/>
                </a:solidFill>
                <a:latin typeface="Trebuchet MS"/>
                <a:ea typeface="Trebuchet MS"/>
                <a:cs typeface="Trebuchet MS"/>
                <a:sym typeface="Trebuchet MS"/>
              </a:rPr>
              <a:t>СЛОЖНАЯ БАЗА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6766560" y="2880360"/>
            <a:ext cx="4389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3000"/>
              <a:buFont typeface="Trebuchet MS"/>
              <a:buNone/>
            </a:pPr>
            <a:r>
              <a:rPr b="1" lang="en-US" sz="30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~1500</a:t>
            </a:r>
            <a:r>
              <a:rPr lang="en-US" sz="1400">
                <a:solidFill>
                  <a:srgbClr val="4A6670"/>
                </a:solidFill>
                <a:latin typeface="Trebuchet MS"/>
                <a:ea typeface="Trebuchet MS"/>
                <a:cs typeface="Trebuchet MS"/>
                <a:sym typeface="Trebuchet MS"/>
              </a:rPr>
              <a:t> fits / target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6766560" y="3456432"/>
            <a:ext cx="4389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→ плато на 282.6 LB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6583680" y="4023360"/>
            <a:ext cx="4754880" cy="17830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766560" y="418795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9E5"/>
              </a:buClr>
              <a:buSzPts val="1100"/>
              <a:buFont typeface="Trebuchet MS"/>
              <a:buNone/>
            </a:pPr>
            <a:r>
              <a:rPr b="1" lang="en-US" sz="1100">
                <a:solidFill>
                  <a:srgbClr val="CFE9E5"/>
                </a:solidFill>
                <a:latin typeface="Trebuchet MS"/>
                <a:ea typeface="Trebuchet MS"/>
                <a:cs typeface="Trebuchet MS"/>
                <a:sym typeface="Trebuchet MS"/>
              </a:rPr>
              <a:t>ПРОСТАЯ БАЗА + v2c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6766560" y="4526280"/>
            <a:ext cx="438912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Trebuchet MS"/>
              <a:buNone/>
            </a:pPr>
            <a:r>
              <a:rPr b="1" lang="en-US" sz="4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271.7</a:t>
            </a:r>
            <a:r>
              <a:rPr lang="en-US" sz="1800">
                <a:solidFill>
                  <a:srgbClr val="CFE9E5"/>
                </a:solidFill>
                <a:latin typeface="Trebuchet MS"/>
                <a:ea typeface="Trebuchet MS"/>
                <a:cs typeface="Trebuchet MS"/>
                <a:sym typeface="Trebuchet MS"/>
              </a:rPr>
              <a:t>  LB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6766560" y="534924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9E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2 модели · 159 фич · скачок почти −7 пунктов от плато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hub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7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4" name="Google Shape;21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8"/>
          <p:cNvSpPr/>
          <p:nvPr/>
        </p:nvSpPr>
        <p:spPr>
          <a:xfrm>
            <a:off x="1115568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ФАЗА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1115568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Multiseed и тонкая настройка: 272 → 268.76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548640" y="1645920"/>
            <a:ext cx="361188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822960" y="1874520"/>
            <a:ext cx="685800" cy="685800"/>
          </a:xfrm>
          <a:prstGeom prst="ellipse">
            <a:avLst/>
          </a:prstGeom>
          <a:solidFill>
            <a:srgbClr val="0B2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19" name="Google Shape;21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0" y="20116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8"/>
          <p:cNvSpPr/>
          <p:nvPr/>
        </p:nvSpPr>
        <p:spPr>
          <a:xfrm>
            <a:off x="822960" y="26517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3-seed averaging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822960" y="306324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Сиды 42 · 1337 · 2024. Усреднение OOF и test predictions снижает variance.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822960" y="3886200"/>
            <a:ext cx="3108960" cy="292608"/>
          </a:xfrm>
          <a:prstGeom prst="rect">
            <a:avLst/>
          </a:prstGeom>
          <a:solidFill>
            <a:srgbClr val="E6F4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8"/>
          <p:cNvSpPr/>
          <p:nvPr/>
        </p:nvSpPr>
        <p:spPr>
          <a:xfrm>
            <a:off x="822960" y="388620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−1.5…−2.0 LB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4343400" y="1645920"/>
            <a:ext cx="361188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4617720" y="1874520"/>
            <a:ext cx="685800" cy="685800"/>
          </a:xfrm>
          <a:prstGeom prst="ellipse">
            <a:avLst/>
          </a:prstGeom>
          <a:solidFill>
            <a:srgbClr val="0B2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6" name="Google Shape;22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20116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8"/>
          <p:cNvSpPr/>
          <p:nvPr/>
        </p:nvSpPr>
        <p:spPr>
          <a:xfrm>
            <a:off x="4617720" y="26517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Сужение adaptive pct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617720" y="306324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22% → 6% → 4% → 3.5%. Меньше строк уходит в min-of-teachers.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4617720" y="3886200"/>
            <a:ext cx="3108960" cy="292608"/>
          </a:xfrm>
          <a:prstGeom prst="rect">
            <a:avLst/>
          </a:prstGeom>
          <a:solidFill>
            <a:srgbClr val="E6F4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4617720" y="388620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−3+ LB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8138160" y="1645920"/>
            <a:ext cx="361188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8412480" y="1874520"/>
            <a:ext cx="685800" cy="685800"/>
          </a:xfrm>
          <a:prstGeom prst="ellipse">
            <a:avLst/>
          </a:prstGeom>
          <a:solidFill>
            <a:srgbClr val="0B2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3" name="Google Shape;2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49640" y="2011680"/>
            <a:ext cx="411480" cy="41148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8"/>
          <p:cNvSpPr/>
          <p:nvPr/>
        </p:nvSpPr>
        <p:spPr>
          <a:xfrm>
            <a:off x="8412480" y="265176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600"/>
              <a:buFont typeface="Trebuchet MS"/>
              <a:buNone/>
            </a:pPr>
            <a:r>
              <a:rPr b="1" lang="en-US" sz="16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Точные clips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8412480" y="3063240"/>
            <a:ext cx="3108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IC50 на 98.80 перцентиле, CC50 на 98.95. Срезка хвоста предсказаний.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8412480" y="3886200"/>
            <a:ext cx="3108960" cy="292608"/>
          </a:xfrm>
          <a:prstGeom prst="rect">
            <a:avLst/>
          </a:prstGeom>
          <a:solidFill>
            <a:srgbClr val="E6F4F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8412480" y="388620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стабильный gain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548640" y="4572000"/>
            <a:ext cx="11064240" cy="1691640"/>
          </a:xfrm>
          <a:prstGeom prst="rect">
            <a:avLst/>
          </a:prstGeom>
          <a:solidFill>
            <a:srgbClr val="0B2027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548640" y="4572000"/>
            <a:ext cx="109728" cy="16916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0" name="Google Shape;24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5074920"/>
            <a:ext cx="685800" cy="68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8"/>
          <p:cNvSpPr/>
          <p:nvPr/>
        </p:nvSpPr>
        <p:spPr>
          <a:xfrm>
            <a:off x="1828800" y="4800600"/>
            <a:ext cx="4114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600"/>
              <a:buFont typeface="Trebuchet MS"/>
              <a:buNone/>
            </a:pPr>
            <a:r>
              <a:rPr b="1" lang="en-US" sz="46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268.76238</a:t>
            </a:r>
            <a:endParaRPr sz="4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6035040" y="4800600"/>
            <a:ext cx="5394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FE9E5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Финальный сабмит: H7 sweep (2026-05-29) — pct = 3.5% + CC clip 98.95. Регрессировали: 5-seed, pct 2/3/7%, blends, derived SI.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7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48" name="Google Shape;24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9"/>
          <p:cNvSpPr/>
          <p:nvPr/>
        </p:nvSpPr>
        <p:spPr>
          <a:xfrm>
            <a:off x="1115568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РЕШЕНИЕ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1115568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Финальный pipeline — 4 стадии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548640" y="1691640"/>
            <a:ext cx="2724912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548640" y="1691640"/>
            <a:ext cx="2724912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822960" y="2011680"/>
            <a:ext cx="777240" cy="7772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822960" y="2011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lang="en-US"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1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804672" y="2926080"/>
            <a:ext cx="2267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Multiseed base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804672" y="3383280"/>
            <a:ext cx="22677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CatBoost + LightGBM 75/25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804672" y="3931920"/>
            <a:ext cx="2267712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3 seed × 10-fold KFold. Outlier removal SI&lt;2000 (746 rows), 159 фич. log1p только для SI.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3273552" y="3383280"/>
            <a:ext cx="118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3392424" y="1691640"/>
            <a:ext cx="2724912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3392424" y="1691640"/>
            <a:ext cx="2724912" cy="109728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3666744" y="2011680"/>
            <a:ext cx="777240" cy="777240"/>
          </a:xfrm>
          <a:prstGeom prst="ellipse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3666744" y="2011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lang="en-US"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648456" y="2926080"/>
            <a:ext cx="2267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v2c SI stack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3648456" y="3383280"/>
            <a:ext cx="22677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4 LGBM на расширенных фичах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648456" y="3931920"/>
            <a:ext cx="2267712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192 дескриптора + OOF/pred IC50, CC50, SI. 4 варианта (baseline/conservative/wide/huber) × 3 seed.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6117336" y="3383280"/>
            <a:ext cx="118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00A896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6236208" y="1691640"/>
            <a:ext cx="2724912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236208" y="1691640"/>
            <a:ext cx="2724912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6510528" y="2011680"/>
            <a:ext cx="777240" cy="7772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6510528" y="2011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lang="en-US"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6492240" y="2926080"/>
            <a:ext cx="2267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Adaptive top-3.5%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9"/>
          <p:cNvSpPr/>
          <p:nvPr/>
        </p:nvSpPr>
        <p:spPr>
          <a:xfrm>
            <a:off x="6492240" y="3383280"/>
            <a:ext cx="22677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02C39A"/>
                </a:solidFill>
                <a:latin typeface="Trebuchet MS"/>
                <a:ea typeface="Trebuchet MS"/>
                <a:cs typeface="Trebuchet MS"/>
                <a:sym typeface="Trebuchet MS"/>
              </a:rPr>
              <a:t>min-of-teachers по uncertainty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9"/>
          <p:cNvSpPr/>
          <p:nvPr/>
        </p:nvSpPr>
        <p:spPr>
          <a:xfrm>
            <a:off x="6492240" y="3931920"/>
            <a:ext cx="2267712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log-std across 4 teachers. Топ-3.5% неуверенных → min. Остальные 96.5% → mean ансамбля.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8961120" y="3383280"/>
            <a:ext cx="11887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02C39A"/>
                </a:solidFill>
                <a:latin typeface="Trebuchet MS"/>
                <a:ea typeface="Trebuchet MS"/>
                <a:cs typeface="Trebuchet MS"/>
                <a:sym typeface="Trebuchet MS"/>
              </a:rPr>
              <a:t>›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9079992" y="1691640"/>
            <a:ext cx="2724912" cy="4023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9079992" y="1691640"/>
            <a:ext cx="2724912" cy="10972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9354312" y="2011680"/>
            <a:ext cx="777240" cy="77724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/>
          <p:nvPr/>
        </p:nvSpPr>
        <p:spPr>
          <a:xfrm>
            <a:off x="9354312" y="2011680"/>
            <a:ext cx="7772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Trebuchet MS"/>
              <a:buNone/>
            </a:pPr>
            <a:r>
              <a:rPr b="1" lang="en-US" sz="34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4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9336024" y="2926080"/>
            <a:ext cx="22677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700"/>
              <a:buFont typeface="Trebuchet MS"/>
              <a:buNone/>
            </a:pPr>
            <a:r>
              <a:rPr b="1" lang="en-US" sz="17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Post-processing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9336024" y="3383280"/>
            <a:ext cx="22677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50"/>
              <a:buFont typeface="Trebuchet MS"/>
              <a:buNone/>
            </a:pPr>
            <a:r>
              <a:rPr b="1" lang="en-US" sz="125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Percentile clips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9336024" y="3931920"/>
            <a:ext cx="2267712" cy="1691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IC50 clip на 98.80, CC50 на 98.95 перцентиле test-предсказаний. Срезка тяжёлого хвоста.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4A6670"/>
                </a:solidFill>
                <a:latin typeface="Consolas"/>
                <a:ea typeface="Consolas"/>
                <a:cs typeface="Consolas"/>
                <a:sym typeface="Consolas"/>
              </a:rPr>
              <a:t>Воспроизведение: python solution.py — кэш multiseed base (~3 мин) · --mode full — полное обучение (~20 мин CPU)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7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88" name="Google Shape;28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10"/>
          <p:cNvSpPr/>
          <p:nvPr/>
        </p:nvSpPr>
        <p:spPr>
          <a:xfrm>
            <a:off x="1115568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СВОДКА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1115568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Итоговая эволюция Public LB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1" name="Google Shape;291;p10"/>
          <p:cNvGraphicFramePr/>
          <p:nvPr/>
        </p:nvGraphicFramePr>
        <p:xfrm>
          <a:off x="548640" y="1645920"/>
          <a:ext cx="7772400" cy="4526280"/>
        </p:xfrm>
        <a:graphic>
          <a:graphicData uri="http://schemas.openxmlformats.org/drawingml/2006/chart">
            <c:chart r:id="rId4"/>
          </a:graphicData>
        </a:graphic>
      </p:graphicFrame>
      <p:sp>
        <p:nvSpPr>
          <p:cNvPr id="292" name="Google Shape;292;p10"/>
          <p:cNvSpPr/>
          <p:nvPr/>
        </p:nvSpPr>
        <p:spPr>
          <a:xfrm>
            <a:off x="8595360" y="1645920"/>
            <a:ext cx="3017520" cy="4526280"/>
          </a:xfrm>
          <a:prstGeom prst="rect">
            <a:avLst/>
          </a:prstGeom>
          <a:solidFill>
            <a:srgbClr val="0B2027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8823960" y="1874520"/>
            <a:ext cx="2560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Trebuchet MS"/>
              <a:buNone/>
            </a:pPr>
            <a:r>
              <a:rPr b="1" lang="en-US" sz="1300">
                <a:solidFill>
                  <a:srgbClr val="02C39A"/>
                </a:solidFill>
                <a:latin typeface="Trebuchet MS"/>
                <a:ea typeface="Trebuchet MS"/>
                <a:cs typeface="Trebuchet MS"/>
                <a:sym typeface="Trebuchet MS"/>
              </a:rPr>
              <a:t>ИТОГ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8823960" y="22402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A0A8"/>
              </a:buClr>
              <a:buSzPts val="2600"/>
              <a:buFont typeface="Trebuchet MS"/>
              <a:buNone/>
            </a:pPr>
            <a:r>
              <a:rPr b="1" lang="en-US" sz="2600">
                <a:solidFill>
                  <a:srgbClr val="7FA0A8"/>
                </a:solidFill>
                <a:latin typeface="Trebuchet MS"/>
                <a:ea typeface="Trebuchet MS"/>
                <a:cs typeface="Trebuchet MS"/>
                <a:sym typeface="Trebuchet MS"/>
              </a:rPr>
              <a:t>365.82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0"/>
          <p:cNvSpPr/>
          <p:nvPr/>
        </p:nvSpPr>
        <p:spPr>
          <a:xfrm>
            <a:off x="8823960" y="269748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9E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baseline HGB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10"/>
          <p:cNvCxnSpPr/>
          <p:nvPr/>
        </p:nvCxnSpPr>
        <p:spPr>
          <a:xfrm>
            <a:off x="8823960" y="3154680"/>
            <a:ext cx="2560320" cy="0"/>
          </a:xfrm>
          <a:prstGeom prst="straightConnector1">
            <a:avLst/>
          </a:prstGeom>
          <a:noFill/>
          <a:ln cap="flat" cmpd="sng" w="12700">
            <a:solidFill>
              <a:srgbClr val="2A4A5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0"/>
          <p:cNvSpPr/>
          <p:nvPr/>
        </p:nvSpPr>
        <p:spPr>
          <a:xfrm>
            <a:off x="8823960" y="3291840"/>
            <a:ext cx="2560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Trebuchet MS"/>
              <a:buNone/>
            </a:pPr>
            <a:r>
              <a:rPr b="1" lang="en-US" sz="3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268.76</a:t>
            </a:r>
            <a:endParaRPr sz="3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/>
          <p:nvPr/>
        </p:nvSpPr>
        <p:spPr>
          <a:xfrm>
            <a:off x="8823960" y="39319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9E5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финальный LB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0"/>
          <p:cNvSpPr/>
          <p:nvPr/>
        </p:nvSpPr>
        <p:spPr>
          <a:xfrm>
            <a:off x="8823960" y="4434840"/>
            <a:ext cx="2560320" cy="9144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8823960" y="4498848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027"/>
              </a:buClr>
              <a:buSzPts val="3400"/>
              <a:buFont typeface="Trebuchet MS"/>
              <a:buNone/>
            </a:pPr>
            <a:r>
              <a:rPr b="1" lang="en-US" sz="3400">
                <a:solidFill>
                  <a:srgbClr val="0B2027"/>
                </a:solidFill>
                <a:latin typeface="Trebuchet MS"/>
                <a:ea typeface="Trebuchet MS"/>
                <a:cs typeface="Trebuchet MS"/>
                <a:sym typeface="Trebuchet MS"/>
              </a:rPr>
              <a:t>−97.1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8823960" y="504748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2027"/>
              </a:buClr>
              <a:buSzPts val="1000"/>
              <a:buFont typeface="Trebuchet MS"/>
              <a:buNone/>
            </a:pPr>
            <a:r>
              <a:rPr b="1" lang="en-US" sz="1000">
                <a:solidFill>
                  <a:srgbClr val="0B2027"/>
                </a:solidFill>
                <a:latin typeface="Trebuchet MS"/>
                <a:ea typeface="Trebuchet MS"/>
                <a:cs typeface="Trebuchet MS"/>
                <a:sym typeface="Trebuchet MS"/>
              </a:rPr>
              <a:t>ПУНКТА УЛУЧШЕНИЯ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0"/>
          <p:cNvSpPr/>
          <p:nvPr/>
        </p:nvSpPr>
        <p:spPr>
          <a:xfrm>
            <a:off x="8823960" y="553212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FE9E5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3 фазы · 60+ LB-сабмитов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7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08" name="Google Shape;3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475488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1"/>
          <p:cNvSpPr/>
          <p:nvPr/>
        </p:nvSpPr>
        <p:spPr>
          <a:xfrm>
            <a:off x="1115568" y="45720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8090"/>
              </a:buClr>
              <a:buSzPts val="1200"/>
              <a:buFont typeface="Trebuchet MS"/>
              <a:buNone/>
            </a:pPr>
            <a:r>
              <a:rPr b="1" lang="en-US" sz="1200">
                <a:solidFill>
                  <a:srgbClr val="028090"/>
                </a:solidFill>
                <a:latin typeface="Trebuchet MS"/>
                <a:ea typeface="Trebuchet MS"/>
                <a:cs typeface="Trebuchet MS"/>
                <a:sym typeface="Trebuchet MS"/>
              </a:rPr>
              <a:t>ГРАНИЦЫ И РАЗВИТИЕ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1115568" y="713232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2800"/>
              <a:buFont typeface="Trebuchet MS"/>
              <a:buNone/>
            </a:pPr>
            <a:r>
              <a:rPr b="1" lang="en-US" sz="28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Информационный потолок и пути роста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1"/>
          <p:cNvSpPr/>
          <p:nvPr/>
        </p:nvSpPr>
        <p:spPr>
          <a:xfrm>
            <a:off x="548640" y="1600200"/>
            <a:ext cx="11064240" cy="1371600"/>
          </a:xfrm>
          <a:prstGeom prst="rect">
            <a:avLst/>
          </a:prstGeom>
          <a:solidFill>
            <a:srgbClr val="0B2027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2" name="Google Shape;31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96596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1"/>
          <p:cNvSpPr/>
          <p:nvPr/>
        </p:nvSpPr>
        <p:spPr>
          <a:xfrm>
            <a:off x="1691640" y="1755648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Trebuchet MS"/>
              <a:buNone/>
            </a:pP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Узкое место</a:t>
            </a:r>
            <a:r>
              <a:rPr b="1" lang="en-US" sz="1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rPr>
              <a:t> в данных, не в моделях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"/>
          <p:cNvSpPr/>
          <p:nvPr/>
        </p:nvSpPr>
        <p:spPr>
          <a:xfrm>
            <a:off x="1691640" y="2194560"/>
            <a:ext cx="9601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CFE9E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FE9E5"/>
                </a:solidFill>
                <a:latin typeface="Calibri"/>
                <a:ea typeface="Calibri"/>
                <a:cs typeface="Calibri"/>
                <a:sym typeface="Calibri"/>
              </a:rPr>
              <a:t>LGBM, XGBoost, CatBoost, TabPFN дают предсказания с корреляцией 0.999+. Разные сиды, feature subsets, регуляризации — то же. Извлекли максимум сигнала из 192 дескрипторов и 750 примеров.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548640" y="3200400"/>
            <a:ext cx="2121408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1"/>
          <p:cNvSpPr/>
          <p:nvPr/>
        </p:nvSpPr>
        <p:spPr>
          <a:xfrm>
            <a:off x="548640" y="3200400"/>
            <a:ext cx="2121408" cy="822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1289304" y="3520440"/>
            <a:ext cx="640080" cy="640080"/>
          </a:xfrm>
          <a:prstGeom prst="ellipse">
            <a:avLst/>
          </a:prstGeom>
          <a:solidFill>
            <a:srgbClr val="0B2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7320" y="36484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1"/>
          <p:cNvSpPr/>
          <p:nvPr/>
        </p:nvSpPr>
        <p:spPr>
          <a:xfrm>
            <a:off x="713232" y="4297680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Больше данных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1"/>
          <p:cNvSpPr/>
          <p:nvPr/>
        </p:nvSpPr>
        <p:spPr>
          <a:xfrm>
            <a:off x="713232" y="4937760"/>
            <a:ext cx="179222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5000+ rows раскрыли бы TabPFN и pseudo-labeling.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2775204" y="3200400"/>
            <a:ext cx="2121408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2775204" y="3200400"/>
            <a:ext cx="2121408" cy="8229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3515868" y="3520440"/>
            <a:ext cx="640080" cy="640080"/>
          </a:xfrm>
          <a:prstGeom prst="ellipse">
            <a:avLst/>
          </a:prstGeom>
          <a:solidFill>
            <a:srgbClr val="0B2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4" name="Google Shape;3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43884" y="36484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"/>
          <p:cNvSpPr/>
          <p:nvPr/>
        </p:nvSpPr>
        <p:spPr>
          <a:xfrm>
            <a:off x="2939796" y="4297680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Feature space через SMILES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1"/>
          <p:cNvSpPr/>
          <p:nvPr/>
        </p:nvSpPr>
        <p:spPr>
          <a:xfrm>
            <a:off x="2939796" y="4937760"/>
            <a:ext cx="179222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Mordred (1800+), Morgan FP, GNN-эмбеддинги.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5001768" y="3200400"/>
            <a:ext cx="2121408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5001768" y="3200400"/>
            <a:ext cx="2121408" cy="82296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5742432" y="3520440"/>
            <a:ext cx="640080" cy="640080"/>
          </a:xfrm>
          <a:prstGeom prst="ellipse">
            <a:avLst/>
          </a:prstGeom>
          <a:solidFill>
            <a:srgbClr val="0B2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70448" y="36484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/>
          <p:nvPr/>
        </p:nvSpPr>
        <p:spPr>
          <a:xfrm>
            <a:off x="5166360" y="4297680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Multi-task learning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1"/>
          <p:cNvSpPr/>
          <p:nvPr/>
        </p:nvSpPr>
        <p:spPr>
          <a:xfrm>
            <a:off x="5166360" y="4937760"/>
            <a:ext cx="179222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Shared embedding для корреляций IC/CC/SI.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7228332" y="3200400"/>
            <a:ext cx="2121408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7228332" y="3200400"/>
            <a:ext cx="2121408" cy="8229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7968996" y="3520440"/>
            <a:ext cx="640080" cy="640080"/>
          </a:xfrm>
          <a:prstGeom prst="ellipse">
            <a:avLst/>
          </a:prstGeom>
          <a:solidFill>
            <a:srgbClr val="0B2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6" name="Google Shape;33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7012" y="36484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1"/>
          <p:cNvSpPr/>
          <p:nvPr/>
        </p:nvSpPr>
        <p:spPr>
          <a:xfrm>
            <a:off x="7392924" y="4297680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Bayesian uncertainty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1"/>
          <p:cNvSpPr/>
          <p:nvPr/>
        </p:nvSpPr>
        <p:spPr>
          <a:xfrm>
            <a:off x="7392924" y="4937760"/>
            <a:ext cx="179222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Deep ensemble / BNN вместо teacher disagreement.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9454896" y="3200400"/>
            <a:ext cx="2121408" cy="30632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889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9454896" y="3200400"/>
            <a:ext cx="2121408" cy="8229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10195560" y="3520440"/>
            <a:ext cx="640080" cy="640080"/>
          </a:xfrm>
          <a:prstGeom prst="ellipse">
            <a:avLst/>
          </a:prstGeom>
          <a:solidFill>
            <a:srgbClr val="0B202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323576" y="3648456"/>
            <a:ext cx="384048" cy="384048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1"/>
          <p:cNvSpPr/>
          <p:nvPr/>
        </p:nvSpPr>
        <p:spPr>
          <a:xfrm>
            <a:off x="9619488" y="4297680"/>
            <a:ext cx="1792224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343B"/>
              </a:buClr>
              <a:buSzPts val="1400"/>
              <a:buFont typeface="Trebuchet MS"/>
              <a:buNone/>
            </a:pPr>
            <a:r>
              <a:rPr b="1" lang="en-US" sz="1400">
                <a:solidFill>
                  <a:srgbClr val="13343B"/>
                </a:solidFill>
                <a:latin typeface="Trebuchet MS"/>
                <a:ea typeface="Trebuchet MS"/>
                <a:cs typeface="Trebuchet MS"/>
                <a:sym typeface="Trebuchet MS"/>
              </a:rPr>
              <a:t>Active learning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1"/>
          <p:cNvSpPr/>
          <p:nvPr/>
        </p:nvSpPr>
        <p:spPr>
          <a:xfrm>
            <a:off x="9619488" y="4937760"/>
            <a:ext cx="179222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Oracle-лаборатория → информативные test rows.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2026-05-29T17:33:24Z</dcterms:created>
  <dc:creator>ChemAI Team</dc:creator>
</cp:coreProperties>
</file>